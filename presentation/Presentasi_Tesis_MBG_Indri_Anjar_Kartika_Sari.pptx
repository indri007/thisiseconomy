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t>SOCIAL NETWORK ANALYSIS SARKASME CUITAN TWITTER</a:t>
            </a:r>
          </a:p>
          <a:p>
            <a:pPr algn="ctr">
              <a:defRPr sz="2500" b="1"/>
            </a:pPr>
            <a:r>
              <a:t>DI BALIK PERTARUHAN TRILIUNAN RUPIAH PADA KEBIJAKAN MAKAN BERGIZI GRATIS</a:t>
            </a:r>
          </a:p>
          <a:p>
            <a:pPr algn="ctr">
              <a:defRPr sz="2300"/>
            </a:pPr>
            <a:r>
              <a:t>Berdasarkan Konsep Marketing 6.0</a:t>
            </a:r>
          </a:p>
          <a:p>
            <a:br/>
            <a:pPr algn="ctr">
              <a:defRPr sz="2000"/>
            </a:pPr>
            <a:r>
              <a:t>Indri Anjar Kartika Sari</a:t>
            </a:r>
          </a:p>
          <a:p>
            <a:pPr algn="ctr">
              <a:defRPr sz="1800"/>
            </a:pPr>
            <a:r>
              <a:t>Magister Ilmu Komunikasi — UPN Veteran Jawa Timur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01 — 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Program Makan Bergizi Gratis (MBG) menjadi isu kebijakan publik dengan perhatian dan percakapan tinggi di media sosial.</a:t>
            </a:r>
          </a:p>
          <a:p>
            <a:pPr>
              <a:spcAft>
                <a:spcPts val="1200"/>
              </a:spcAft>
              <a:defRPr sz="2000"/>
            </a:pPr>
            <a:r>
              <a:t>X/Twitter menjadi ruang pertukaran opini, dukungan, kritik, humor, ironi, dan sarkasme.</a:t>
            </a:r>
          </a:p>
          <a:p>
            <a:pPr>
              <a:spcAft>
                <a:spcPts val="1200"/>
              </a:spcAft>
              <a:defRPr sz="2000"/>
            </a:pPr>
            <a:r>
              <a:t>Teks positif secara literal tidak selalu merepresentasikan sikap komunikatif sebenarnya.</a:t>
            </a:r>
          </a:p>
          <a:p>
            <a:pPr>
              <a:spcAft>
                <a:spcPts val="1200"/>
              </a:spcAft>
              <a:defRPr sz="2000"/>
            </a:pPr>
            <a:r>
              <a:t>Karena itu diperlukan kombinasi Social Network Analysis (SNA), NLP/IndoBERT, analisis emosi, dan analisis sarkasme.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02 — 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Bagaimana struktur jaringan komunikasi terbentuk dalam percakapan mengenai MBG?</a:t>
            </a:r>
          </a:p>
          <a:p>
            <a:pPr>
              <a:spcAft>
                <a:spcPts val="1200"/>
              </a:spcAft>
              <a:defRPr sz="2000"/>
            </a:pPr>
            <a:r>
              <a:t>Aktor mana yang memiliki posisi struktural penting dalam jaringan?</a:t>
            </a:r>
          </a:p>
          <a:p>
            <a:pPr>
              <a:spcAft>
                <a:spcPts val="1200"/>
              </a:spcAft>
              <a:defRPr sz="2000"/>
            </a:pPr>
            <a:r>
              <a:t>Bagaimana emosi dan sarkasme muncul dalam percakapan digital?</a:t>
            </a:r>
          </a:p>
          <a:p>
            <a:pPr>
              <a:spcAft>
                <a:spcPts val="1200"/>
              </a:spcAft>
              <a:defRPr sz="2000"/>
            </a:pPr>
            <a:r>
              <a:t>Bagaimana temuan jaringan dan emosi dapat dibaca melalui perspektif Marketing 6.0 dan Phygital Gap?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03 — Kerangka Konseptual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Social Network Analysis → struktur hubungan dan posisi aktor.</a:t>
            </a:r>
          </a:p>
          <a:p>
            <a:pPr>
              <a:spcAft>
                <a:spcPts val="1200"/>
              </a:spcAft>
              <a:defRPr sz="2000"/>
            </a:pPr>
            <a:r>
              <a:t>IndoBERT → representasi bahasa Indonesia dan klasifikasi teks.</a:t>
            </a:r>
          </a:p>
          <a:p>
            <a:pPr>
              <a:spcAft>
                <a:spcPts val="1200"/>
              </a:spcAft>
              <a:defRPr sz="2000"/>
            </a:pPr>
            <a:r>
              <a:t>9 Emosi Plutchik → Marah, Bahagia/Senang, Sedih, Antisipasi, Takut, Netral, Percaya, Jijik, Kaget.</a:t>
            </a:r>
          </a:p>
          <a:p>
            <a:pPr>
              <a:spcAft>
                <a:spcPts val="1200"/>
              </a:spcAft>
              <a:defRPr sz="2000"/>
            </a:pPr>
            <a:r>
              <a:t>Deteksi Sarkasme → membedakan makna literal dan sinyal kontradiktif dalam komunikasi digital.</a:t>
            </a:r>
          </a:p>
          <a:p>
            <a:pPr>
              <a:spcAft>
                <a:spcPts val="1200"/>
              </a:spcAft>
              <a:defRPr sz="2000"/>
            </a:pPr>
            <a:r>
              <a:t>Marketing 6.0 → pengalaman phygital, emotional engagement, dan kesenjangan antara ruang digital dan pengalaman kebijakan.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04 — Research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Tahap 1 — Akuisisi data dan penyaringan data publik.</a:t>
            </a:r>
          </a:p>
          <a:p>
            <a:pPr>
              <a:spcAft>
                <a:spcPts val="1200"/>
              </a:spcAft>
              <a:defRPr sz="2000"/>
            </a:pPr>
            <a:r>
              <a:t>Tahap 2 — Pra-pemrosesan teks, normalisasi slang, emoji, dan struktur percakapan.</a:t>
            </a:r>
          </a:p>
          <a:p>
            <a:pPr>
              <a:spcAft>
                <a:spcPts val="1200"/>
              </a:spcAft>
              <a:defRPr sz="2000"/>
            </a:pPr>
            <a:r>
              <a:t>Tahap 3 — Pemodelan NLP menggunakan IndoBERT dan klasifikasi emosi/sarkasme.</a:t>
            </a:r>
          </a:p>
          <a:p>
            <a:pPr>
              <a:spcAft>
                <a:spcPts val="1200"/>
              </a:spcAft>
              <a:defRPr sz="2000"/>
            </a:pPr>
            <a:r>
              <a:t>Tahap 4 — Social Network Analysis menggunakan NetworkX/NodeXL dan community detection.</a:t>
            </a:r>
          </a:p>
          <a:p>
            <a:pPr>
              <a:spcAft>
                <a:spcPts val="1200"/>
              </a:spcAft>
              <a:defRPr sz="2000"/>
            </a:pPr>
            <a:r>
              <a:t>Tahap 5 — Sintesis hasil melalui kerangka Marketing 6.0 dan Phygital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05 — Data &amp; Metode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Sumber data: percakapan publik pada platform X/Twitter.</a:t>
            </a:r>
          </a:p>
          <a:p>
            <a:pPr>
              <a:spcAft>
                <a:spcPts val="1200"/>
              </a:spcAft>
              <a:defRPr sz="2000"/>
            </a:pPr>
            <a:r>
              <a:t>Analisis jaringan: node, edge, degree centrality, betweenness, modularity, komunitas, dan struktur jaringan.</a:t>
            </a:r>
          </a:p>
          <a:p>
            <a:pPr>
              <a:spcAft>
                <a:spcPts val="1200"/>
              </a:spcAft>
              <a:defRPr sz="2000"/>
            </a:pPr>
            <a:r>
              <a:t>Community detection: Louvain.</a:t>
            </a:r>
          </a:p>
          <a:p>
            <a:pPr>
              <a:spcAft>
                <a:spcPts val="1200"/>
              </a:spcAft>
              <a:defRPr sz="2000"/>
            </a:pPr>
            <a:r>
              <a:t>Pemodelan bahasa: IndoBERT.</a:t>
            </a:r>
          </a:p>
          <a:p>
            <a:pPr>
              <a:spcAft>
                <a:spcPts val="1200"/>
              </a:spcAft>
              <a:defRPr sz="2000"/>
            </a:pPr>
            <a:r>
              <a:t>Visualisasi: Plotly, NetworkX, NodeXL Pro, dan dashboard Streamlit.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06 — Struktur Jaringan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Analisis jaringan digunakan untuk melihat pola hubungan antaraktor.</a:t>
            </a:r>
          </a:p>
          <a:p>
            <a:pPr>
              <a:spcAft>
                <a:spcPts val="1200"/>
              </a:spcAft>
              <a:defRPr sz="2000"/>
            </a:pPr>
            <a:r>
              <a:t>Degree centrality menunjukkan intensitas hubungan seorang aktor.</a:t>
            </a:r>
          </a:p>
          <a:p>
            <a:pPr>
              <a:spcAft>
                <a:spcPts val="1200"/>
              </a:spcAft>
              <a:defRPr sz="2000"/>
            </a:pPr>
            <a:r>
              <a:t>Betweenness centrality membantu mengidentifikasi aktor yang berada pada jalur penghubung jaringan.</a:t>
            </a:r>
          </a:p>
          <a:p>
            <a:pPr>
              <a:spcAft>
                <a:spcPts val="1200"/>
              </a:spcAft>
              <a:defRPr sz="2000"/>
            </a:pPr>
            <a:r>
              <a:t>Modularity digunakan untuk melihat pembentukan komunitas.</a:t>
            </a:r>
          </a:p>
          <a:p>
            <a:pPr>
              <a:spcAft>
                <a:spcPts val="1200"/>
              </a:spcAft>
              <a:defRPr sz="2000"/>
            </a:pPr>
            <a:r>
              <a:t>Interpretasi jaringan diposisikan sebagai bukti struktural, bukan bukti kausal.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07 — Community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Algoritma Louvain digunakan untuk memetakan komunitas dalam jaringan.</a:t>
            </a:r>
          </a:p>
          <a:p>
            <a:pPr>
              <a:spcAft>
                <a:spcPts val="1200"/>
              </a:spcAft>
              <a:defRPr sz="2000"/>
            </a:pPr>
            <a:r>
              <a:t>Komunitas menunjukkan kelompok akun yang relatif lebih rapat terhubung.</a:t>
            </a:r>
          </a:p>
          <a:p>
            <a:pPr>
              <a:spcAft>
                <a:spcPts val="1200"/>
              </a:spcAft>
              <a:defRPr sz="2000"/>
            </a:pPr>
            <a:r>
              <a:t>Modularitas tinggi dapat menunjukkan struktur komunitas yang lebih terpisah.</a:t>
            </a:r>
          </a:p>
          <a:p>
            <a:pPr>
              <a:spcAft>
                <a:spcPts val="1200"/>
              </a:spcAft>
              <a:defRPr sz="2000"/>
            </a:pPr>
            <a:r>
              <a:t>Hasil komunitas digunakan untuk memahami fragmentasi dan pola distribusi komunikasi digital.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08 — IndoBERT &amp; 9 Emosi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Model transformer digunakan untuk menangkap konteks bahasa Indonesia.</a:t>
            </a:r>
          </a:p>
          <a:p>
            <a:pPr>
              <a:spcAft>
                <a:spcPts val="1200"/>
              </a:spcAft>
              <a:defRPr sz="2000"/>
            </a:pPr>
            <a:r>
              <a:t>Klasifikasi emosi menggunakan sembilan kategori.</a:t>
            </a:r>
          </a:p>
          <a:p>
            <a:pPr>
              <a:spcAft>
                <a:spcPts val="1200"/>
              </a:spcAft>
              <a:defRPr sz="2000"/>
            </a:pPr>
            <a:r>
              <a:t>Emoji dipertimbangkan sebagai sinyal tambahan karena dapat mengubah interpretasi teks.</a:t>
            </a:r>
          </a:p>
          <a:p>
            <a:pPr>
              <a:spcAft>
                <a:spcPts val="1200"/>
              </a:spcAft>
              <a:defRPr sz="2000"/>
            </a:pPr>
            <a:r>
              <a:t>Evaluasi model perlu dibaca bersama kualitas anotasi, distribusi kelas, dan error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09 — Sarkasme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Sarkasme dapat muncul ketika makna literal berbeda dengan maksud komunikatif.</a:t>
            </a:r>
          </a:p>
          <a:p>
            <a:pPr>
              <a:spcAft>
                <a:spcPts val="1200"/>
              </a:spcAft>
              <a:defRPr sz="2000"/>
            </a:pPr>
            <a:r>
              <a:t>Emoji seperti 🤡, 🙃, atau 🤮 dapat menjadi penanda pragmatis.</a:t>
            </a:r>
          </a:p>
          <a:p>
            <a:pPr>
              <a:spcAft>
                <a:spcPts val="1200"/>
              </a:spcAft>
              <a:defRPr sz="2000"/>
            </a:pPr>
            <a:r>
              <a:t>Pernyataan yang tampak positif secara leksikal dapat mengandung evaluasi negatif.</a:t>
            </a:r>
          </a:p>
          <a:p>
            <a:pPr>
              <a:spcAft>
                <a:spcPts val="1200"/>
              </a:spcAft>
              <a:defRPr sz="2000"/>
            </a:pPr>
            <a:r>
              <a:t>Karena itu deteksi sarkasme tidak cukup hanya menggunakan analisis sentimen berbasis kata.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 — Temuan Komputasional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Jaringan dianalisis melalui kombinasi topologi, sentralitas, dan komunitas.</a:t>
            </a:r>
          </a:p>
          <a:p>
            <a:pPr>
              <a:spcAft>
                <a:spcPts val="1200"/>
              </a:spcAft>
              <a:defRPr sz="2000"/>
            </a:pPr>
            <a:r>
              <a:t>Analisis emosi dan sarkasme memberikan dimensi afektif terhadap struktur jaringan.</a:t>
            </a:r>
          </a:p>
          <a:p>
            <a:pPr>
              <a:spcAft>
                <a:spcPts val="1200"/>
              </a:spcAft>
              <a:defRPr sz="2000"/>
            </a:pPr>
            <a:r>
              <a:t>Visualisasi memungkinkan hubungan antara struktur jaringan dan ekspresi komunikasi diperiksa secara terpadu.</a:t>
            </a:r>
          </a:p>
          <a:p>
            <a:pPr>
              <a:spcAft>
                <a:spcPts val="1200"/>
              </a:spcAft>
              <a:defRPr sz="2000"/>
            </a:pPr>
            <a:r>
              <a:t>Temuan yang belum direkonsiliasi harus diperlakukan sebagai hasil analitik sementara, bukan kesimpulan final.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 — Marketing 6.0 &amp; Phygital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Marketing 6.0 menempatkan pengalaman manusia dan integrasi ruang fisik-digital sebagai perhatian penting.</a:t>
            </a:r>
          </a:p>
          <a:p>
            <a:pPr>
              <a:spcAft>
                <a:spcPts val="1200"/>
              </a:spcAft>
              <a:defRPr sz="2000"/>
            </a:pPr>
            <a:r>
              <a:t>Dalam konteks kebijakan publik, komunikasi digital dapat membentuk ekspektasi dan respons terhadap pengalaman kebijakan.</a:t>
            </a:r>
          </a:p>
          <a:p>
            <a:pPr>
              <a:spcAft>
                <a:spcPts val="1200"/>
              </a:spcAft>
              <a:defRPr sz="2000"/>
            </a:pPr>
            <a:r>
              <a:t>Phygital Gap digunakan sebagai lensa untuk membaca kemungkinan jarak antara pesan digital, persepsi publik, dan pengalaman implementasi.</a:t>
            </a:r>
          </a:p>
          <a:p>
            <a:pPr>
              <a:spcAft>
                <a:spcPts val="1200"/>
              </a:spcAft>
              <a:defRPr sz="2000"/>
            </a:pPr>
            <a:r>
              <a:t>Kerangka ini digunakan sebagai interpretasi konseptual, bukan klaim hubungan sebab-akibat.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 — Implikasi Komunikasi Kebijakan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Monitoring percakapan publik dapat membantu mengidentifikasi perubahan pola komunikasi.</a:t>
            </a:r>
          </a:p>
          <a:p>
            <a:pPr>
              <a:spcAft>
                <a:spcPts val="1200"/>
              </a:spcAft>
              <a:defRPr sz="2000"/>
            </a:pPr>
            <a:r>
              <a:t>Analisis sarkasme dapat melengkapi indikator sentimen konvensional.</a:t>
            </a:r>
          </a:p>
          <a:p>
            <a:pPr>
              <a:spcAft>
                <a:spcPts val="1200"/>
              </a:spcAft>
              <a:defRPr sz="2000"/>
            </a:pPr>
            <a:r>
              <a:t>Jaringan aktor dapat membantu memetakan jalur distribusi informasi.</a:t>
            </a:r>
          </a:p>
          <a:p>
            <a:pPr>
              <a:spcAft>
                <a:spcPts val="1200"/>
              </a:spcAft>
              <a:defRPr sz="2000"/>
            </a:pPr>
            <a:r>
              <a:t>Dashboard analitik dapat digunakan sebagai instrumen observasi dan early-warning berbasis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 — Research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 berasal dari satu platform sehingga tidak otomatis merepresentasikan seluruh populasi.</a:t>
            </a:r>
          </a:p>
          <a:p>
            <a:pPr>
              <a:spcAft>
                <a:spcPts val="1200"/>
              </a:spcAft>
              <a:defRPr sz="2000"/>
            </a:pPr>
            <a:r>
              <a:t>Periode observasi terbatas pada rentang waktu penelitian.</a:t>
            </a:r>
          </a:p>
          <a:p>
            <a:pPr>
              <a:spcAft>
                <a:spcPts val="1200"/>
              </a:spcAft>
              <a:defRPr sz="2000"/>
            </a:pPr>
            <a:r>
              <a:t>Klasifikasi NLP bergantung pada kualitas data dan anotasi.</a:t>
            </a:r>
          </a:p>
          <a:p>
            <a:pPr>
              <a:spcAft>
                <a:spcPts val="1200"/>
              </a:spcAft>
              <a:defRPr sz="2000"/>
            </a:pPr>
            <a:r>
              <a:t>Sarkasme merupakan fenomena pragmatis yang tetap memiliki ambiguitas.</a:t>
            </a:r>
          </a:p>
          <a:p>
            <a:pPr>
              <a:spcAft>
                <a:spcPts val="1200"/>
              </a:spcAft>
              <a:defRPr sz="2000"/>
            </a:pPr>
            <a:r>
              <a:t>Analisis jaringan menunjukkan pola struktural dan tidak dengan sendirinya membuktikan kausalitas.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 — Future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Perluasan ke X, TikTok, Instagram, YouTube, dan platform digital lainnya.</a:t>
            </a:r>
          </a:p>
          <a:p>
            <a:pPr>
              <a:spcAft>
                <a:spcPts val="1200"/>
              </a:spcAft>
              <a:defRPr sz="2000"/>
            </a:pPr>
            <a:r>
              <a:t>Multimodal sarcasm detection yang menggabungkan teks, emoji, gambar, dan video.</a:t>
            </a:r>
          </a:p>
          <a:p>
            <a:pPr>
              <a:spcAft>
                <a:spcPts val="1200"/>
              </a:spcAft>
              <a:defRPr sz="2000"/>
            </a:pPr>
            <a:r>
              <a:t>Temporal network analysis untuk melihat perubahan jaringan dari waktu ke waktu.</a:t>
            </a:r>
          </a:p>
          <a:p>
            <a:pPr>
              <a:spcAft>
                <a:spcPts val="1200"/>
              </a:spcAft>
              <a:defRPr sz="2000"/>
            </a:pPr>
            <a:r>
              <a:t>Peningkatan reliabilitas anotasi menggunakan beberapa anotator independen.</a:t>
            </a:r>
          </a:p>
          <a:p>
            <a:pPr>
              <a:spcAft>
                <a:spcPts val="1200"/>
              </a:spcAft>
              <a:defRPr sz="2000"/>
            </a:pPr>
            <a:r>
              <a:t>Pengembangan indikator Digital Public Policy Trust berbasis data multimodal.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 — 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Percakapan kebijakan publik di media sosial memiliki dimensi struktural, emosional, dan pragmatis.</a:t>
            </a:r>
          </a:p>
          <a:p>
            <a:pPr>
              <a:spcAft>
                <a:spcPts val="1200"/>
              </a:spcAft>
              <a:defRPr sz="2000"/>
            </a:pPr>
            <a:r>
              <a:t>SNA membantu memetakan struktur hubungan dan komunitas.</a:t>
            </a:r>
          </a:p>
          <a:p>
            <a:pPr>
              <a:spcAft>
                <a:spcPts val="1200"/>
              </a:spcAft>
              <a:defRPr sz="2000"/>
            </a:pPr>
            <a:r>
              <a:t>IndoBERT membantu mengolah konteks bahasa Indonesia untuk klasifikasi.</a:t>
            </a:r>
          </a:p>
          <a:p>
            <a:pPr>
              <a:spcAft>
                <a:spcPts val="1200"/>
              </a:spcAft>
              <a:defRPr sz="2000"/>
            </a:pPr>
            <a:r>
              <a:t>Deteksi sarkasme penting untuk membaca perbedaan antara makna literal dan komunikasi aktual.</a:t>
            </a:r>
          </a:p>
          <a:p>
            <a:pPr>
              <a:spcAft>
                <a:spcPts val="1200"/>
              </a:spcAft>
              <a:defRPr sz="2000"/>
            </a:pPr>
            <a:r>
              <a:t>Marketing 6.0 memberikan kerangka untuk menghubungkan pengalaman digital dengan konteks kebijakan publik.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TERIMA KASIH</a:t>
            </a:r>
          </a:p>
          <a:p>
            <a:pPr algn="ctr">
              <a:defRPr sz="2200"/>
            </a:pPr>
            <a:r>
              <a:t>Social Network Analysis • IndoBERT • Sarkasme • Marketing 6.0</a:t>
            </a:r>
          </a:p>
          <a:p>
            <a:pPr algn="ctr">
              <a:defRPr sz="2000"/>
            </a:pPr>
            <a:r>
              <a:t>Indri Anjar Kartika Sari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